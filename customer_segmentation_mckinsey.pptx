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3296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F3A66"/>
          </a:solidFill>
          <a:ln w="12700">
            <a:solidFill>
              <a:srgbClr val="1F3A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43460"/>
          </a:solidFill>
          <a:ln w="12700">
            <a:solidFill>
              <a:srgbClr val="24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011680"/>
            <a:ext cx="5303520" cy="457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943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Segmentation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Personalization Strategy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Fashion &amp; Lifestyle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D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blanket discounting into precision-targeted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D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 strategies to drive sustainable growth.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06240"/>
            <a:ext cx="5303520" cy="73152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297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 Muthii  |  Strategy &amp; Customer Analytics  |  Confidential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74320"/>
            <a:ext cx="2286000" cy="2286000"/>
          </a:xfrm>
          <a:prstGeom prst="ellipse">
            <a:avLst/>
          </a:prstGeom>
          <a:solidFill>
            <a:srgbClr val="2D5BE3">
              <a:alpha val="20000"/>
            </a:srgbClr>
          </a:solidFill>
          <a:ln w="12700">
            <a:solidFill>
              <a:srgbClr val="2D5BE3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0" y="2011680"/>
            <a:ext cx="1645920" cy="1645920"/>
          </a:xfrm>
          <a:prstGeom prst="ellipse">
            <a:avLst/>
          </a:prstGeom>
          <a:solidFill>
            <a:srgbClr val="C9973D">
              <a:alpha val="30000"/>
            </a:srgbClr>
          </a:solidFill>
          <a:ln w="12700">
            <a:solidFill>
              <a:srgbClr val="C9973D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2926080"/>
            <a:ext cx="1097280" cy="1097280"/>
          </a:xfrm>
          <a:prstGeom prst="ellipse">
            <a:avLst/>
          </a:prstGeom>
          <a:solidFill>
            <a:srgbClr val="5B8DEF">
              <a:alpha val="40000"/>
            </a:srgbClr>
          </a:solidFill>
          <a:ln w="12700">
            <a:solidFill>
              <a:srgbClr val="5B8DEF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Untargeted promotions are eroding margins without driving proportional loyalty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212140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6692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Promo Spend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budget heavily skewed toward blanket discount campaigns with low selectivity.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56032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6032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0896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2121408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67004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 Discounting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67004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segments receive identical offers regardless of purchase behavior or lifetime value.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66344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21208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2121408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7316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Targeting Efficiency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477316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differentiation between discount-sensitive and loyalty-driven customer cohorts.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6656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6656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1520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2" y="2121408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628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Pressure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87628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margins compressed as high-value customers redeem the same discounts as low-value ones.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High-Value Customers Are Being Over-Discounted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usage is uniform across all segments — yet loyalty and value vary dramatically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Redemption Rate by Segment (%)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70432" y="2606039"/>
            <a:ext cx="1582332" cy="365761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2754" y="26060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8912" y="3058405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70432" y="3113268"/>
            <a:ext cx="1499196" cy="370596"/>
          </a:xfrm>
          <a:prstGeom prst="rect">
            <a:avLst/>
          </a:prstGeom>
          <a:solidFill>
            <a:srgbClr val="7BA3F5"/>
          </a:solidFill>
          <a:ln w="12700">
            <a:solidFill>
              <a:srgbClr val="7BA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88687" y="3136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8912" y="367494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70432" y="3721607"/>
            <a:ext cx="1425623" cy="370595"/>
          </a:xfrm>
          <a:prstGeom prst="rect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2754" y="369417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41330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1874520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874520"/>
            <a:ext cx="64008" cy="84124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1929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</a:t>
            </a:r>
            <a:r>
              <a:rPr lang="en-US" sz="1800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828032" y="23225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VIP customers redeem discounts they don't need to convert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807208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2807208"/>
            <a:ext cx="64008" cy="84124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28620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</a:t>
            </a:r>
            <a:r>
              <a:rPr lang="en-US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r>
              <a:rPr lang="en-US" sz="1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828032" y="32552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highest and lowest segment — statistically insignificant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739896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739896"/>
            <a:ext cx="64008" cy="84124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37947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3–5×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828032" y="4187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LTV of loyal customers vs. discount-dependent cohorts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 &amp;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SQL segmentation analysis across 3,900 customers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265176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1: Over-Discounting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1, 3 &amp; 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816352"/>
            <a:ext cx="164592" cy="164592"/>
          </a:xfrm>
          <a:prstGeom prst="ellipse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customers: 44% discount rate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" y="3410712"/>
            <a:ext cx="164592" cy="164592"/>
          </a:xfrm>
          <a:prstGeom prst="ellipse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1,145+ high-value, discount-independent customers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9184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1920240"/>
            <a:ext cx="265176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2: Loyalty ≠ Value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5 &amp; 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29000" y="281635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tiers split ~33/33/33 within every loyalty tier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29000" y="341071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tier has 887 High-value customers (avg $392)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29000" y="400507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959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must use both dimensions, not loyalty alone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920240"/>
            <a:ext cx="265176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3: Dashboard &amp; Action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3620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6 &amp;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81635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4: Shift to value-based incentives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341071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5: Build customer value monitoring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400507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92240" y="3959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deployed at streamlit.app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1 &amp; 2  |  STOP OVER-DISCOUNTING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Reduce Discounts for Loyal &amp; High-Value Customers; Replace with Experience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605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416052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27632"/>
            <a:ext cx="320040" cy="27432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27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16276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Over-Discounting Loyal &amp; High-Value Customers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887 Loyal/High-value customers avg $392 value — receive 43% discount rate they don’t need to convert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78892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Gradually reduce discounts for this cohort; replace with non-monetary rewards — early access to new collections, exclusive product drops, free express shipping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tier benefits clearly so customers understand what replaces the discount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4315968"/>
            <a:ext cx="4160520" cy="393192"/>
          </a:xfrm>
          <a:prstGeom prst="rect">
            <a:avLst/>
          </a:prstGeom>
          <a:solidFill>
            <a:srgbClr val="EEF2FF"/>
          </a:solidFill>
          <a:ln w="6350">
            <a:solidFill>
              <a:srgbClr val="E8EC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3799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1,145 high-value, discount-independent customers identified — immediate margin recovery with zero revenue risk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1463040"/>
            <a:ext cx="41605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463040"/>
            <a:ext cx="416052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83480" y="1627632"/>
            <a:ext cx="320040" cy="2743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627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94960" y="16276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Targeted Discounting by Segment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945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(424 total, avg value $142): onboarding discounts to drive first repeat purchase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83480" y="278892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Low-value / price-sensitive customers: targeted promotions tied to minimum basket size to drive spend uplift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8348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Returning/lapsed customers (755 total, avg value $202): reactivation offers with behavioral triggers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4315968"/>
            <a:ext cx="4160520" cy="393192"/>
          </a:xfrm>
          <a:prstGeom prst="rect">
            <a:avLst/>
          </a:prstGeom>
          <a:solidFill>
            <a:srgbClr val="FEF9EC"/>
          </a:solidFill>
          <a:ln w="6350">
            <a:solidFill>
              <a:srgbClr val="E8EC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43799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Discount rate gap between New (40%) and Loyal (44%) is only 4pp — precision targeting can unlock significant margin improvement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3  |  PERSONALIZE BY SEGMENT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 Marketing Based on Customer Segments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and value are independent dimensions — targeting must use both to be effective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51760" cy="2926080"/>
          </a:xfrm>
          <a:prstGeom prst="rect">
            <a:avLst/>
          </a:prstGeom>
          <a:solidFill>
            <a:srgbClr val="FDF6EE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2651760" cy="594360"/>
          </a:xfrm>
          <a:prstGeom prst="rect">
            <a:avLst/>
          </a:prstGeom>
          <a:solidFill>
            <a:srgbClr val="A87B4F"/>
          </a:solidFill>
          <a:ln w="12700">
            <a:solidFill>
              <a:srgbClr val="A87B4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Customers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6692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424 customers · Avg value $142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56692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discounts to drive first repeat purchase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6692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Deal-focused messaging and category promotions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692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Basket-threshold incentives to increase order value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91840" y="1783080"/>
            <a:ext cx="2651760" cy="2926080"/>
          </a:xfrm>
          <a:prstGeom prst="rect">
            <a:avLst/>
          </a:prstGeom>
          <a:solidFill>
            <a:srgbClr val="F7F9FB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291840" y="1783080"/>
            <a:ext cx="2651760" cy="594360"/>
          </a:xfrm>
          <a:prstGeom prst="rect">
            <a:avLst/>
          </a:prstGeom>
          <a:solidFill>
            <a:srgbClr val="6D7D8B"/>
          </a:solidFill>
          <a:ln w="12700">
            <a:solidFill>
              <a:srgbClr val="6D7D8B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874520"/>
            <a:ext cx="384048" cy="3840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192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Returning Customers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40156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40156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customers · Avg value $202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40156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40156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40156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Reactivation offers with behavioural triggers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340156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points redeemable for store credit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340156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product recommendations by category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126480" y="1783080"/>
            <a:ext cx="2651760" cy="2926080"/>
          </a:xfrm>
          <a:prstGeom prst="rect">
            <a:avLst/>
          </a:prstGeom>
          <a:solidFill>
            <a:srgbClr val="FEFBF0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126480" y="1783080"/>
            <a:ext cx="2651760" cy="59436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74520"/>
            <a:ext cx="384048" cy="38404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76656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Loyal Customers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23620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623620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2,721 customers · Avg value $268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3620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23620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623620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product drops and early collection access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623620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express shipping as standard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623620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experiences: styling sessions, VIP events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3090672" y="2670048"/>
            <a:ext cx="219456" cy="10972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301752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1" name="Shape 36"/>
          <p:cNvSpPr/>
          <p:nvPr/>
        </p:nvSpPr>
        <p:spPr>
          <a:xfrm>
            <a:off x="5925312" y="2670048"/>
            <a:ext cx="219456" cy="10972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85216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3 &amp; 4  |  PERSONALIZE &amp; PROTECT MARGIN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 Every Touchpoint; Protect Margin on Discount-Independent Segments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0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27632"/>
            <a:ext cx="347472" cy="27432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2763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4128" y="1627632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 Marketing by Customer Segment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14884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85416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24128" y="214884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customers (avg $392): premium product recommendations, VIP experiences, no discounts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" y="297180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008376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24128" y="29718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Discount-sensitive customers: deal-focused messaging and targeted promotions tied to basket thresholds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313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24128" y="379476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Category-specific buyers: tailored product suggestions based on Footwear, Clothing, Accessories, Outerwear behaviour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4343400"/>
            <a:ext cx="4114800" cy="365760"/>
          </a:xfrm>
          <a:prstGeom prst="rect">
            <a:avLst/>
          </a:prstGeom>
          <a:solidFill>
            <a:srgbClr val="EEF2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66928" y="4398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All 4 product categories show near-identical avg value ($228–$244) — category is not a value predictor; segment tier is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846320" y="146304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46320" y="1463040"/>
            <a:ext cx="384048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83480" y="1627632"/>
            <a:ext cx="347472" cy="2743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983480" y="162763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5413248" y="162763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Discount-Independent Segments Immediately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983480" y="2148840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983480" y="2148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5413248" y="21488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 identified segments with above-avg value AND below-avg discount usage: Loyal/High (887 customers, $392 avg, 43% disc. rate) and Returning/High (258 customers, $297 avg, 43% disc. rate)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983480" y="2953512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83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413248" y="29535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90-day pilot: remove discounts for these 1,145 customers, replace with experience-led perks (early access, free shipping). Monitor retention and revenue weekly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3758184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98348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13248" y="3758184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least sensitive to discount removal (SQL Query 7): New/High ($205 avg, 38% disc. rate) and Returning/Low ($110 avg, 39% disc. rate) — second wave of pilot candidates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846320" y="4343400"/>
            <a:ext cx="3840480" cy="365760"/>
          </a:xfrm>
          <a:prstGeom prst="rect">
            <a:avLst/>
          </a:prstGeom>
          <a:solidFill>
            <a:srgbClr val="FEF9EC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956048" y="43982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1,145 high-value customers identified for immediate pilot — zero revenue risk, direct margin improvement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4 &amp; 5  |  VALUE-BASED INCENTIVES &amp; MONITORING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Shift from Discounts to Value-Based Incentives; Build a Customer Monitoring Dashboard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265176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27632"/>
            <a:ext cx="320040" cy="25603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Discounts to Value-Based Incentives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offers, loyalty points, and personalised recommendations replace cash discounts for high-value segments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points redeemable for store credit — builds retention without eroding margin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experiences for Loyal/High-value customers: styling sessions, members-only drops, VIP events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4315968"/>
            <a:ext cx="2651760" cy="393192"/>
          </a:xfrm>
          <a:prstGeom prst="rect">
            <a:avLst/>
          </a:prstGeom>
          <a:solidFill>
            <a:srgbClr val="EEF2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Let discounts drive acquisition and conversion. Not retention.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9184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63040"/>
            <a:ext cx="265176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01568" y="1627632"/>
            <a:ext cx="320040" cy="256032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0156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9476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Customer Value Monitoring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0156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deployed — tracks Total Customers, Total Proxied CLV, Avg Discount Rate, Retention Rate, and Avg Customer Value Score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0156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loyalty tier, value tier, category, and subscription status — enables segment-level decision making for CRM and marketing teams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0156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discount-independent high-value segments dynamically — flags margin recovery opportunities as filters change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4315968"/>
            <a:ext cx="2651760" cy="393192"/>
          </a:xfrm>
          <a:prstGeom prst="rect">
            <a:avLst/>
          </a:prstGeom>
          <a:solidFill>
            <a:srgbClr val="FEF9EC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0156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Dashboard live at streamlit.app — enables weekly data-driven decisions for commercial and CRM teams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63040"/>
            <a:ext cx="265176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6208" y="1627632"/>
            <a:ext cx="320040" cy="2560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Simulate &amp; Scale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30-day pilot on Loyal/High-value cohort (887 customers) — remove discounts, replace with experience perks, track retention and revenue weekly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3620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discount reduction scenarios on full customer base to model revenue impact before full rollout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3620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recommendation engine slides for executive audience and extend dashboard with A/B test result tracking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26480" y="4315968"/>
            <a:ext cx="2651760" cy="393192"/>
          </a:xfrm>
          <a:prstGeom prst="rect">
            <a:avLst/>
          </a:prstGeom>
          <a:solidFill>
            <a:srgbClr val="EEFAF3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Pilot → Simulate → Scale: three-step path to a fully personalised, margin-accretive customer engagement strategy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More Profitable, Loyalty-Driven Business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 these five recommendations positions the business for durable, margin-accretive growth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65960"/>
            <a:ext cx="201168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1,145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Discount-Independent Customers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for immediate discount pilot — zero revenue risk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06040" y="1965960"/>
            <a:ext cx="201168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71576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Customer Discount Rate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1576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 as New customers (40%) — uniform discounting confirmed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965960"/>
            <a:ext cx="201168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3,900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86460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 Analysed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6460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New, Returning &amp; Loyal tiers — full segmentation coverage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0372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1965960"/>
            <a:ext cx="2011680" cy="64008"/>
          </a:xfrm>
          <a:prstGeom prst="rect">
            <a:avLst/>
          </a:prstGeom>
          <a:solidFill>
            <a:srgbClr val="E84393"/>
          </a:solidFill>
          <a:ln w="12700">
            <a:solidFill>
              <a:srgbClr val="E843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1344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43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Days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01344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Pilot Launch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1344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pilot on Loyal/High-value cohort within 30 days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902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Commission Pilot on Loyal/High-Value Cohort Within 30 Days  ·  Dashboard Live at streamlit.app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1243</Words>
  <Application>Microsoft Office PowerPoint</Application>
  <PresentationFormat>On-screen Show (16:9)</PresentationFormat>
  <Paragraphs>160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Victor Muthii</cp:lastModifiedBy>
  <cp:revision>3</cp:revision>
  <dcterms:created xsi:type="dcterms:W3CDTF">2026-03-17T18:49:18Z</dcterms:created>
  <dcterms:modified xsi:type="dcterms:W3CDTF">2026-04-08T09:24:54Z</dcterms:modified>
</cp:coreProperties>
</file>