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1" d="100"/>
          <a:sy n="91" d="100"/>
        </p:scale>
        <p:origin x="78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132967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C4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2D5BE3"/>
          </a:solidFill>
          <a:ln w="12700">
            <a:solidFill>
              <a:srgbClr val="2D5BE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43600" y="0"/>
            <a:ext cx="3200400" cy="5143500"/>
          </a:xfrm>
          <a:prstGeom prst="rect">
            <a:avLst/>
          </a:prstGeom>
          <a:solidFill>
            <a:srgbClr val="1F3A66"/>
          </a:solidFill>
          <a:ln w="12700">
            <a:solidFill>
              <a:srgbClr val="1F3A6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243460"/>
          </a:solidFill>
          <a:ln w="12700">
            <a:solidFill>
              <a:srgbClr val="24346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2011680"/>
            <a:ext cx="5303520" cy="45720"/>
          </a:xfrm>
          <a:prstGeom prst="rect">
            <a:avLst/>
          </a:prstGeom>
          <a:solidFill>
            <a:srgbClr val="C9973D"/>
          </a:solidFill>
          <a:ln w="12700">
            <a:solidFill>
              <a:srgbClr val="C997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594360"/>
            <a:ext cx="5303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Customer Segmentation</a:t>
            </a:r>
            <a:endParaRPr lang="en-US" sz="3000" dirty="0"/>
          </a:p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&amp; Personalization Strategy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2176272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C99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 Fashion &amp; Lifestyle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265176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ADB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Transforming blanket discounting into precision-targeted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ADB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value strategies to drive sustainable growth.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0040" y="4206240"/>
            <a:ext cx="5303520" cy="731520"/>
          </a:xfrm>
          <a:prstGeom prst="rect">
            <a:avLst/>
          </a:prstGeom>
          <a:solidFill>
            <a:srgbClr val="152340"/>
          </a:solidFill>
          <a:ln w="12700">
            <a:solidFill>
              <a:srgbClr val="15234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42976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Victor Muthii  |  Strategy &amp; Customer Analytics  |  Confidential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772400" y="274320"/>
            <a:ext cx="2286000" cy="2286000"/>
          </a:xfrm>
          <a:prstGeom prst="ellipse">
            <a:avLst/>
          </a:prstGeom>
          <a:solidFill>
            <a:srgbClr val="2D5BE3">
              <a:alpha val="20000"/>
            </a:srgbClr>
          </a:solidFill>
          <a:ln w="12700">
            <a:solidFill>
              <a:srgbClr val="2D5BE3">
                <a:alpha val="2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132320" y="2011680"/>
            <a:ext cx="1645920" cy="1645920"/>
          </a:xfrm>
          <a:prstGeom prst="ellipse">
            <a:avLst/>
          </a:prstGeom>
          <a:solidFill>
            <a:srgbClr val="C9973D">
              <a:alpha val="30000"/>
            </a:srgbClr>
          </a:solidFill>
          <a:ln w="12700">
            <a:solidFill>
              <a:srgbClr val="C9973D">
                <a:alpha val="3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38160" y="2926080"/>
            <a:ext cx="1097280" cy="1097280"/>
          </a:xfrm>
          <a:prstGeom prst="ellipse">
            <a:avLst/>
          </a:prstGeom>
          <a:solidFill>
            <a:srgbClr val="5B8DEF">
              <a:alpha val="40000"/>
            </a:srgbClr>
          </a:solidFill>
          <a:ln w="12700">
            <a:solidFill>
              <a:srgbClr val="5B8DEF">
                <a:alpha val="40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C4E"/>
          </a:solidFill>
          <a:ln w="12700">
            <a:solidFill>
              <a:srgbClr val="1A2C4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8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2C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Business Problem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38988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D4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Untargeted promotions are eroding margins without driving proportional loyalty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920240"/>
            <a:ext cx="1920240" cy="256032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920240"/>
            <a:ext cx="1920240" cy="73152"/>
          </a:xfrm>
          <a:prstGeom prst="rect">
            <a:avLst/>
          </a:prstGeom>
          <a:solidFill>
            <a:srgbClr val="2D5BE3"/>
          </a:solidFill>
          <a:ln w="12700">
            <a:solidFill>
              <a:srgbClr val="2D5B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05840" y="2057400"/>
            <a:ext cx="502920" cy="502920"/>
          </a:xfrm>
          <a:prstGeom prst="ellipse">
            <a:avLst/>
          </a:prstGeom>
          <a:solidFill>
            <a:srgbClr val="1A2C4E"/>
          </a:solidFill>
          <a:ln w="12700">
            <a:solidFill>
              <a:srgbClr val="1A2C4E"/>
            </a:solidFill>
            <a:prstDash val="solid"/>
          </a:ln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8992" y="2121408"/>
            <a:ext cx="274320" cy="2743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66928" y="26517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2C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Promo Spend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66928" y="306324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3D4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budget heavily skewed toward blanket discount campaigns with low selectivity.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2560320" y="1920240"/>
            <a:ext cx="1920240" cy="256032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2560320" y="1920240"/>
            <a:ext cx="1920240" cy="73152"/>
          </a:xfrm>
          <a:prstGeom prst="rect">
            <a:avLst/>
          </a:prstGeom>
          <a:solidFill>
            <a:srgbClr val="2D5BE3"/>
          </a:solidFill>
          <a:ln w="12700">
            <a:solidFill>
              <a:srgbClr val="2D5BE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108960" y="2057400"/>
            <a:ext cx="502920" cy="502920"/>
          </a:xfrm>
          <a:prstGeom prst="ellipse">
            <a:avLst/>
          </a:prstGeom>
          <a:solidFill>
            <a:srgbClr val="1A2C4E"/>
          </a:solidFill>
          <a:ln w="12700">
            <a:solidFill>
              <a:srgbClr val="1A2C4E"/>
            </a:solidFill>
            <a:prstDash val="solid"/>
          </a:ln>
        </p:spPr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82112" y="2121408"/>
            <a:ext cx="274320" cy="27432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2670048" y="26517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2C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Blanket Discounting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2670048" y="306324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3D4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segments receive identical offers regardless of purchase behavior or lifetime value.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4663440" y="1920240"/>
            <a:ext cx="1920240" cy="256032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4663440" y="1920240"/>
            <a:ext cx="1920240" cy="73152"/>
          </a:xfrm>
          <a:prstGeom prst="rect">
            <a:avLst/>
          </a:prstGeom>
          <a:solidFill>
            <a:srgbClr val="2D5BE3"/>
          </a:solidFill>
          <a:ln w="12700">
            <a:solidFill>
              <a:srgbClr val="2D5BE3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212080" y="2057400"/>
            <a:ext cx="502920" cy="502920"/>
          </a:xfrm>
          <a:prstGeom prst="ellipse">
            <a:avLst/>
          </a:prstGeom>
          <a:solidFill>
            <a:srgbClr val="1A2C4E"/>
          </a:solidFill>
          <a:ln w="12700">
            <a:solidFill>
              <a:srgbClr val="1A2C4E"/>
            </a:solidFill>
            <a:prstDash val="solid"/>
          </a:ln>
        </p:spPr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85232" y="2121408"/>
            <a:ext cx="274320" cy="27432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4773168" y="26517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2C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Targeting Efficiency</a:t>
            </a:r>
            <a:endParaRPr lang="en-US" sz="1100" dirty="0"/>
          </a:p>
        </p:txBody>
      </p:sp>
      <p:sp>
        <p:nvSpPr>
          <p:cNvPr id="23" name="Text 18"/>
          <p:cNvSpPr/>
          <p:nvPr/>
        </p:nvSpPr>
        <p:spPr>
          <a:xfrm>
            <a:off x="4773168" y="306324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3D4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differentiation between discount-sensitive and loyalty-driven customer cohorts.</a:t>
            </a:r>
            <a:endParaRPr lang="en-US" sz="950" dirty="0"/>
          </a:p>
        </p:txBody>
      </p:sp>
      <p:sp>
        <p:nvSpPr>
          <p:cNvPr id="24" name="Shape 19"/>
          <p:cNvSpPr/>
          <p:nvPr/>
        </p:nvSpPr>
        <p:spPr>
          <a:xfrm>
            <a:off x="6766560" y="1920240"/>
            <a:ext cx="1920240" cy="256032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6766560" y="1920240"/>
            <a:ext cx="1920240" cy="73152"/>
          </a:xfrm>
          <a:prstGeom prst="rect">
            <a:avLst/>
          </a:prstGeom>
          <a:solidFill>
            <a:srgbClr val="2D5BE3"/>
          </a:solidFill>
          <a:ln w="12700">
            <a:solidFill>
              <a:srgbClr val="2D5BE3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7315200" y="2057400"/>
            <a:ext cx="502920" cy="502920"/>
          </a:xfrm>
          <a:prstGeom prst="ellipse">
            <a:avLst/>
          </a:prstGeom>
          <a:solidFill>
            <a:srgbClr val="1A2C4E"/>
          </a:solidFill>
          <a:ln w="12700">
            <a:solidFill>
              <a:srgbClr val="1A2C4E"/>
            </a:solidFill>
            <a:prstDash val="solid"/>
          </a:ln>
        </p:spPr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88352" y="2121408"/>
            <a:ext cx="274320" cy="274320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6876288" y="26517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2C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Pressure</a:t>
            </a:r>
            <a:endParaRPr lang="en-US" sz="1100" dirty="0"/>
          </a:p>
        </p:txBody>
      </p:sp>
      <p:sp>
        <p:nvSpPr>
          <p:cNvPr id="29" name="Text 23"/>
          <p:cNvSpPr/>
          <p:nvPr/>
        </p:nvSpPr>
        <p:spPr>
          <a:xfrm>
            <a:off x="6876288" y="306324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3D4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margins compressed as high-value customers redeem the same discounts as low-value ones.</a:t>
            </a:r>
            <a:endParaRPr lang="en-US" sz="950" dirty="0"/>
          </a:p>
        </p:txBody>
      </p:sp>
      <p:sp>
        <p:nvSpPr>
          <p:cNvPr id="30" name="Shape 24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2"/>
          </a:solidFill>
          <a:ln w="12700">
            <a:solidFill>
              <a:srgbClr val="E8ECF2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365760" y="4910328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|  Customer Analytics Practice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C4E"/>
          </a:solidFill>
          <a:ln w="12700">
            <a:solidFill>
              <a:srgbClr val="1A2C4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8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2C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High-Value Customers Are Being Over-Discounted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D4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 usage is uniform across all segments — yet loyalty and value vary dramatically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D4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 Redemption Rate by Segment (%)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48640" y="2606040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A2C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Loyal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170432" y="2606039"/>
            <a:ext cx="1582332" cy="365761"/>
          </a:xfrm>
          <a:prstGeom prst="rect">
            <a:avLst/>
          </a:prstGeom>
          <a:solidFill>
            <a:srgbClr val="5B8DEF"/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92754" y="260604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D4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44%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38912" y="3058405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A2C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Returning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170432" y="3113268"/>
            <a:ext cx="1499196" cy="370596"/>
          </a:xfrm>
          <a:prstGeom prst="rect">
            <a:avLst/>
          </a:prstGeom>
          <a:solidFill>
            <a:srgbClr val="7BA3F5"/>
          </a:solidFill>
          <a:ln w="12700">
            <a:solidFill>
              <a:srgbClr val="7BA3F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88687" y="313639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D4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42%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38912" y="3674942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A2C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170432" y="3721607"/>
            <a:ext cx="1425623" cy="370595"/>
          </a:xfrm>
          <a:prstGeom prst="rect">
            <a:avLst/>
          </a:prstGeom>
          <a:solidFill>
            <a:srgbClr val="8A9BBF"/>
          </a:solidFill>
          <a:ln w="12700">
            <a:solidFill>
              <a:srgbClr val="8A9BB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92754" y="3694176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D4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48640" y="4133088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663440" y="1874520"/>
            <a:ext cx="402336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663440" y="1874520"/>
            <a:ext cx="64008" cy="841248"/>
          </a:xfrm>
          <a:prstGeom prst="rect">
            <a:avLst/>
          </a:prstGeom>
          <a:solidFill>
            <a:srgbClr val="2D5BE3"/>
          </a:solidFill>
          <a:ln w="12700">
            <a:solidFill>
              <a:srgbClr val="2D5BE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28032" y="1929384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2D5B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44</a:t>
            </a:r>
            <a:r>
              <a:rPr lang="en-US" sz="1800" b="1" dirty="0">
                <a:solidFill>
                  <a:srgbClr val="2D5B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%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4828032" y="2322576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3D4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VIP customers redeem discounts they don't need to convert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663440" y="2807208"/>
            <a:ext cx="402336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663440" y="2807208"/>
            <a:ext cx="64008" cy="841248"/>
          </a:xfrm>
          <a:prstGeom prst="rect">
            <a:avLst/>
          </a:prstGeom>
          <a:solidFill>
            <a:srgbClr val="C9973D"/>
          </a:solidFill>
          <a:ln w="12700">
            <a:solidFill>
              <a:srgbClr val="C997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28032" y="286207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C997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</a:t>
            </a:r>
            <a:r>
              <a:rPr lang="en-US" b="1" dirty="0">
                <a:solidFill>
                  <a:srgbClr val="C997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r>
              <a:rPr lang="en-US" sz="1800" b="1" dirty="0">
                <a:solidFill>
                  <a:srgbClr val="C997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pp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4828032" y="3255264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3D4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between highest and lowest segment — statistically insignificant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663440" y="3739896"/>
            <a:ext cx="402336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663440" y="3739896"/>
            <a:ext cx="64008" cy="841248"/>
          </a:xfrm>
          <a:prstGeom prst="rect">
            <a:avLst/>
          </a:prstGeom>
          <a:solidFill>
            <a:srgbClr val="1A2C4E"/>
          </a:solidFill>
          <a:ln w="12700">
            <a:solidFill>
              <a:srgbClr val="1A2C4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28032" y="379476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A2C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3–5×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4828032" y="4187952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3D4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LTV of loyal customers vs. discount-dependent cohorts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2"/>
          </a:solidFill>
          <a:ln w="12700">
            <a:solidFill>
              <a:srgbClr val="E8ECF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5760" y="4910328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|  Customer Analytics Practice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2C4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52340"/>
          </a:solidFill>
          <a:ln w="12700">
            <a:solidFill>
              <a:srgbClr val="15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8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Eight Strategic Recommendations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Sequenced across three strategic horizons: Protect, Target, Grow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920240"/>
            <a:ext cx="2651760" cy="2880360"/>
          </a:xfrm>
          <a:prstGeom prst="rect">
            <a:avLst/>
          </a:prstGeom>
          <a:solidFill>
            <a:srgbClr val="1F3A66"/>
          </a:solidFill>
          <a:ln w="6350">
            <a:solidFill>
              <a:srgbClr val="2D4A7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920240"/>
            <a:ext cx="2651760" cy="64008"/>
          </a:xfrm>
          <a:prstGeom prst="rect">
            <a:avLst/>
          </a:prstGeom>
          <a:solidFill>
            <a:srgbClr val="2D5BE3"/>
          </a:solidFill>
          <a:ln w="12700">
            <a:solidFill>
              <a:srgbClr val="2D5B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20574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H1: Protect Margins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242316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– 3 months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94360" y="2816352"/>
            <a:ext cx="164592" cy="164592"/>
          </a:xfrm>
          <a:prstGeom prst="ellipse">
            <a:avLst/>
          </a:prstGeom>
          <a:solidFill>
            <a:srgbClr val="2D5BE3"/>
          </a:solidFill>
          <a:ln w="12700">
            <a:solidFill>
              <a:srgbClr val="2D5B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7706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C8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R1: Remove VIP discounts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94360" y="3410712"/>
            <a:ext cx="164592" cy="164592"/>
          </a:xfrm>
          <a:prstGeom prst="ellipse">
            <a:avLst/>
          </a:prstGeom>
          <a:solidFill>
            <a:srgbClr val="2D5BE3"/>
          </a:solidFill>
          <a:ln w="12700">
            <a:solidFill>
              <a:srgbClr val="2D5BE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3649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C8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R2: Targeted discounting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291840" y="1920240"/>
            <a:ext cx="2651760" cy="2880360"/>
          </a:xfrm>
          <a:prstGeom prst="rect">
            <a:avLst/>
          </a:prstGeom>
          <a:solidFill>
            <a:srgbClr val="1F3A66"/>
          </a:solidFill>
          <a:ln w="6350">
            <a:solidFill>
              <a:srgbClr val="2D4A7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91840" y="1920240"/>
            <a:ext cx="2651760" cy="64008"/>
          </a:xfrm>
          <a:prstGeom prst="rect">
            <a:avLst/>
          </a:prstGeom>
          <a:solidFill>
            <a:srgbClr val="C9973D"/>
          </a:solidFill>
          <a:ln w="12700">
            <a:solidFill>
              <a:srgbClr val="C997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01568" y="20574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H2: Target &amp; Personalize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401568" y="242316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C99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– 9 months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29000" y="2816352"/>
            <a:ext cx="164592" cy="164592"/>
          </a:xfrm>
          <a:prstGeom prst="ellipse">
            <a:avLst/>
          </a:prstGeom>
          <a:solidFill>
            <a:srgbClr val="C9973D"/>
          </a:solidFill>
          <a:ln w="12700">
            <a:solidFill>
              <a:srgbClr val="C997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0" y="27706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C8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R3: Tiered loyalty program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429000" y="3410712"/>
            <a:ext cx="164592" cy="164592"/>
          </a:xfrm>
          <a:prstGeom prst="ellipse">
            <a:avLst/>
          </a:prstGeom>
          <a:solidFill>
            <a:srgbClr val="C9973D"/>
          </a:solidFill>
          <a:ln w="12700">
            <a:solidFill>
              <a:srgbClr val="C997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0" y="33649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C8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R4: Personalized marketing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429000" y="4005072"/>
            <a:ext cx="164592" cy="164592"/>
          </a:xfrm>
          <a:prstGeom prst="ellipse">
            <a:avLst/>
          </a:prstGeom>
          <a:solidFill>
            <a:srgbClr val="C9973D"/>
          </a:solidFill>
          <a:ln w="12700">
            <a:solidFill>
              <a:srgbClr val="C997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0" y="395935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C8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R5: Identify insensitive customers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126480" y="1920240"/>
            <a:ext cx="2651760" cy="2880360"/>
          </a:xfrm>
          <a:prstGeom prst="rect">
            <a:avLst/>
          </a:prstGeom>
          <a:solidFill>
            <a:srgbClr val="1F3A66"/>
          </a:solidFill>
          <a:ln w="6350">
            <a:solidFill>
              <a:srgbClr val="2D4A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26480" y="1920240"/>
            <a:ext cx="2651760" cy="64008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36208" y="20574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H3: Scale &amp; Optimize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236208" y="242316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– 18 months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263640" y="2816352"/>
            <a:ext cx="164592" cy="164592"/>
          </a:xfrm>
          <a:prstGeom prst="ellipse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92240" y="27706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C8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R6: Value-based alternatives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263640" y="3410712"/>
            <a:ext cx="164592" cy="164592"/>
          </a:xfrm>
          <a:prstGeom prst="ellipse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92240" y="33649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C8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R7: A/B testing engine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263640" y="4005072"/>
            <a:ext cx="164592" cy="164592"/>
          </a:xfrm>
          <a:prstGeom prst="ellipse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92240" y="395935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C8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R8: Analytics dashboards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152340"/>
          </a:solidFill>
          <a:ln w="12700">
            <a:solidFill>
              <a:srgbClr val="15234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910328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|  Customer Analytics Practice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C4E"/>
          </a:solidFill>
          <a:ln w="12700">
            <a:solidFill>
              <a:srgbClr val="1A2C4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8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 &amp; R2  |  H1: PROTECT MARGINS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0467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A2C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Eliminate Untargeted Discounts; Shift to Experience-Led Loyalty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4160520" cy="324612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463040"/>
            <a:ext cx="4160520" cy="64008"/>
          </a:xfrm>
          <a:prstGeom prst="rect">
            <a:avLst/>
          </a:prstGeom>
          <a:solidFill>
            <a:srgbClr val="2D5BE3"/>
          </a:solidFill>
          <a:ln w="12700">
            <a:solidFill>
              <a:srgbClr val="2D5B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1627632"/>
            <a:ext cx="320040" cy="274320"/>
          </a:xfrm>
          <a:prstGeom prst="rect">
            <a:avLst/>
          </a:prstGeom>
          <a:solidFill>
            <a:srgbClr val="2D5BE3"/>
          </a:solidFill>
          <a:ln w="12700">
            <a:solidFill>
              <a:srgbClr val="2D5B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62763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05840" y="1627632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A2C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Discounts for Loyal &amp; High-Value Customers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2194560"/>
            <a:ext cx="3886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950" dirty="0">
                <a:solidFill>
                  <a:srgbClr val="3D4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discounts with VIP experiences: early access, free shipping, exclusive events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94360" y="2788920"/>
            <a:ext cx="3886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950" dirty="0">
                <a:solidFill>
                  <a:srgbClr val="3D4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Introduce premium perks that reinforce brand status rather than transactional value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94360" y="3383280"/>
            <a:ext cx="3886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950" dirty="0">
                <a:solidFill>
                  <a:srgbClr val="3D4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 tier benefits clearly to manage customer expectations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57200" y="4315968"/>
            <a:ext cx="4160520" cy="393192"/>
          </a:xfrm>
          <a:prstGeom prst="rect">
            <a:avLst/>
          </a:prstGeom>
          <a:solidFill>
            <a:srgbClr val="EEF2FF"/>
          </a:solidFill>
          <a:ln w="6350">
            <a:solidFill>
              <a:srgbClr val="E8ECF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4379976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i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+4–7pp gross margin improvement on VIP cohort within 6 months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846320" y="1463040"/>
            <a:ext cx="4160520" cy="324612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846320" y="1463040"/>
            <a:ext cx="4160520" cy="64008"/>
          </a:xfrm>
          <a:prstGeom prst="rect">
            <a:avLst/>
          </a:prstGeom>
          <a:solidFill>
            <a:srgbClr val="C9973D"/>
          </a:solidFill>
          <a:ln w="12700">
            <a:solidFill>
              <a:srgbClr val="C9973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983480" y="1627632"/>
            <a:ext cx="320040" cy="274320"/>
          </a:xfrm>
          <a:prstGeom prst="rect">
            <a:avLst/>
          </a:prstGeom>
          <a:solidFill>
            <a:srgbClr val="C9973D"/>
          </a:solidFill>
          <a:ln w="12700">
            <a:solidFill>
              <a:srgbClr val="C997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83480" y="162763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394960" y="1627632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A2C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Targeted Discounting by Segment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983480" y="2194560"/>
            <a:ext cx="3886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C99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950" dirty="0">
                <a:solidFill>
                  <a:srgbClr val="3D4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customers: time-limited onboarding offers to drive first repeat purchase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983480" y="2788920"/>
            <a:ext cx="3886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C99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950" dirty="0">
                <a:solidFill>
                  <a:srgbClr val="3D4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Low-value segments: incentives tied to minimum basket thresholds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983480" y="3383280"/>
            <a:ext cx="3886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C99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950" dirty="0">
                <a:solidFill>
                  <a:srgbClr val="3D4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Returning/lapsed customers: reactivation offers with behavioral triggers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846320" y="4315968"/>
            <a:ext cx="4160520" cy="393192"/>
          </a:xfrm>
          <a:prstGeom prst="rect">
            <a:avLst/>
          </a:prstGeom>
          <a:solidFill>
            <a:srgbClr val="FEF9EC"/>
          </a:solidFill>
          <a:ln w="6350">
            <a:solidFill>
              <a:srgbClr val="E8ECF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56048" y="4379976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i="1" dirty="0">
                <a:solidFill>
                  <a:srgbClr val="C99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20–35% reduction in promotional cost-per-acquisition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2"/>
          </a:solidFill>
          <a:ln w="12700">
            <a:solidFill>
              <a:srgbClr val="E8ECF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4910328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|  Customer Analytics Practice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C4E"/>
          </a:solidFill>
          <a:ln w="12700">
            <a:solidFill>
              <a:srgbClr val="1A2C4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8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  |  H2: TARGET &amp; PERSONALIZE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0467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A2C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 a Three-Tier Loyalty Architecture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3533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3D4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progression encourages cross-tier migration and reduces discount dependency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783080"/>
            <a:ext cx="2651760" cy="2926080"/>
          </a:xfrm>
          <a:prstGeom prst="rect">
            <a:avLst/>
          </a:prstGeom>
          <a:solidFill>
            <a:srgbClr val="FDF6EE"/>
          </a:solidFill>
          <a:ln w="6350">
            <a:solidFill>
              <a:srgbClr val="E8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783080"/>
            <a:ext cx="2651760" cy="594360"/>
          </a:xfrm>
          <a:prstGeom prst="rect">
            <a:avLst/>
          </a:prstGeom>
          <a:solidFill>
            <a:srgbClr val="A87B4F"/>
          </a:solidFill>
          <a:ln w="12700">
            <a:solidFill>
              <a:srgbClr val="A87B4F"/>
            </a:solidFill>
            <a:prstDash val="solid"/>
          </a:ln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874520"/>
            <a:ext cx="384048" cy="38404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97280" y="18745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Bronze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566928" y="25146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200" dirty="0">
                <a:solidFill>
                  <a:srgbClr val="8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SEGMENT</a:t>
            </a:r>
            <a:endParaRPr lang="en-US" sz="750" dirty="0"/>
          </a:p>
        </p:txBody>
      </p:sp>
      <p:sp>
        <p:nvSpPr>
          <p:cNvPr id="11" name="Text 8"/>
          <p:cNvSpPr/>
          <p:nvPr/>
        </p:nvSpPr>
        <p:spPr>
          <a:xfrm>
            <a:off x="566928" y="26974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1A2C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&amp; low-frequency shoppers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66928" y="3044952"/>
            <a:ext cx="2432304" cy="18288"/>
          </a:xfrm>
          <a:prstGeom prst="rect">
            <a:avLst/>
          </a:prstGeom>
          <a:solidFill>
            <a:srgbClr val="E8ECF2"/>
          </a:solidFill>
          <a:ln w="12700">
            <a:solidFill>
              <a:srgbClr val="E8ECF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3127248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200" dirty="0">
                <a:solidFill>
                  <a:srgbClr val="8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PERKS</a:t>
            </a:r>
            <a:endParaRPr lang="en-US" sz="750" dirty="0"/>
          </a:p>
        </p:txBody>
      </p:sp>
      <p:sp>
        <p:nvSpPr>
          <p:cNvPr id="14" name="Text 11"/>
          <p:cNvSpPr/>
          <p:nvPr/>
        </p:nvSpPr>
        <p:spPr>
          <a:xfrm>
            <a:off x="566928" y="33375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A87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950" dirty="0">
                <a:solidFill>
                  <a:srgbClr val="3D4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Entry-level discounts (5–10%)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566928" y="37490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A87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950" dirty="0">
                <a:solidFill>
                  <a:srgbClr val="3D4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Birthday offers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566928" y="4160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A87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950" dirty="0">
                <a:solidFill>
                  <a:srgbClr val="3D4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pricing on sale items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3291840" y="1783080"/>
            <a:ext cx="2651760" cy="2926080"/>
          </a:xfrm>
          <a:prstGeom prst="rect">
            <a:avLst/>
          </a:prstGeom>
          <a:solidFill>
            <a:srgbClr val="F7F9FB"/>
          </a:solidFill>
          <a:ln w="6350">
            <a:solidFill>
              <a:srgbClr val="E8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3291840" y="1783080"/>
            <a:ext cx="2651760" cy="594360"/>
          </a:xfrm>
          <a:prstGeom prst="rect">
            <a:avLst/>
          </a:prstGeom>
          <a:solidFill>
            <a:srgbClr val="6D7D8B"/>
          </a:solidFill>
          <a:ln w="12700">
            <a:solidFill>
              <a:srgbClr val="6D7D8B"/>
            </a:solidFill>
            <a:prstDash val="solid"/>
          </a:ln>
        </p:spPr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4720" y="1874520"/>
            <a:ext cx="384048" cy="384048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3931920" y="18745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Silver</a:t>
            </a:r>
            <a:endParaRPr lang="en-US" sz="1800" dirty="0"/>
          </a:p>
        </p:txBody>
      </p:sp>
      <p:sp>
        <p:nvSpPr>
          <p:cNvPr id="21" name="Text 17"/>
          <p:cNvSpPr/>
          <p:nvPr/>
        </p:nvSpPr>
        <p:spPr>
          <a:xfrm>
            <a:off x="3401568" y="25146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200" dirty="0">
                <a:solidFill>
                  <a:srgbClr val="8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SEGMENT</a:t>
            </a:r>
            <a:endParaRPr lang="en-US" sz="750" dirty="0"/>
          </a:p>
        </p:txBody>
      </p:sp>
      <p:sp>
        <p:nvSpPr>
          <p:cNvPr id="22" name="Text 18"/>
          <p:cNvSpPr/>
          <p:nvPr/>
        </p:nvSpPr>
        <p:spPr>
          <a:xfrm>
            <a:off x="3401568" y="26974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1A2C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purchasers, mid-value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3401568" y="3044952"/>
            <a:ext cx="2432304" cy="18288"/>
          </a:xfrm>
          <a:prstGeom prst="rect">
            <a:avLst/>
          </a:prstGeom>
          <a:solidFill>
            <a:srgbClr val="E8ECF2"/>
          </a:solidFill>
          <a:ln w="12700">
            <a:solidFill>
              <a:srgbClr val="E8ECF2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3401568" y="3127248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200" dirty="0">
                <a:solidFill>
                  <a:srgbClr val="8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PERKS</a:t>
            </a:r>
            <a:endParaRPr lang="en-US" sz="750" dirty="0"/>
          </a:p>
        </p:txBody>
      </p:sp>
      <p:sp>
        <p:nvSpPr>
          <p:cNvPr id="25" name="Text 21"/>
          <p:cNvSpPr/>
          <p:nvPr/>
        </p:nvSpPr>
        <p:spPr>
          <a:xfrm>
            <a:off x="3401568" y="33375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D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950" dirty="0">
                <a:solidFill>
                  <a:srgbClr val="3D4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customer service</a:t>
            </a:r>
            <a:endParaRPr lang="en-US" sz="950" dirty="0"/>
          </a:p>
        </p:txBody>
      </p:sp>
      <p:sp>
        <p:nvSpPr>
          <p:cNvPr id="26" name="Text 22"/>
          <p:cNvSpPr/>
          <p:nvPr/>
        </p:nvSpPr>
        <p:spPr>
          <a:xfrm>
            <a:off x="3401568" y="37490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D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950" dirty="0">
                <a:solidFill>
                  <a:srgbClr val="3D4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standard shipping</a:t>
            </a:r>
            <a:endParaRPr lang="en-US" sz="950" dirty="0"/>
          </a:p>
        </p:txBody>
      </p:sp>
      <p:sp>
        <p:nvSpPr>
          <p:cNvPr id="27" name="Text 23"/>
          <p:cNvSpPr/>
          <p:nvPr/>
        </p:nvSpPr>
        <p:spPr>
          <a:xfrm>
            <a:off x="3401568" y="4160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D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950" dirty="0">
                <a:solidFill>
                  <a:srgbClr val="3D4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sale access (24hrs)</a:t>
            </a:r>
            <a:endParaRPr lang="en-US" sz="950" dirty="0"/>
          </a:p>
        </p:txBody>
      </p:sp>
      <p:sp>
        <p:nvSpPr>
          <p:cNvPr id="28" name="Shape 24"/>
          <p:cNvSpPr/>
          <p:nvPr/>
        </p:nvSpPr>
        <p:spPr>
          <a:xfrm>
            <a:off x="6126480" y="1783080"/>
            <a:ext cx="2651760" cy="2926080"/>
          </a:xfrm>
          <a:prstGeom prst="rect">
            <a:avLst/>
          </a:prstGeom>
          <a:solidFill>
            <a:srgbClr val="FEFBF0"/>
          </a:solidFill>
          <a:ln w="6350">
            <a:solidFill>
              <a:srgbClr val="E8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6126480" y="1783080"/>
            <a:ext cx="2651760" cy="594360"/>
          </a:xfrm>
          <a:prstGeom prst="rect">
            <a:avLst/>
          </a:prstGeom>
          <a:solidFill>
            <a:srgbClr val="C9973D"/>
          </a:solidFill>
          <a:ln w="12700">
            <a:solidFill>
              <a:srgbClr val="C9973D"/>
            </a:solidFill>
            <a:prstDash val="solid"/>
          </a:ln>
        </p:spPr>
      </p:sp>
      <p:pic>
        <p:nvPicPr>
          <p:cNvPr id="3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0" y="1874520"/>
            <a:ext cx="384048" cy="384048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6766560" y="18745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Gold</a:t>
            </a:r>
            <a:endParaRPr lang="en-US" sz="1800" dirty="0"/>
          </a:p>
        </p:txBody>
      </p:sp>
      <p:sp>
        <p:nvSpPr>
          <p:cNvPr id="32" name="Text 27"/>
          <p:cNvSpPr/>
          <p:nvPr/>
        </p:nvSpPr>
        <p:spPr>
          <a:xfrm>
            <a:off x="6236208" y="25146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200" dirty="0">
                <a:solidFill>
                  <a:srgbClr val="8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SEGMENT</a:t>
            </a:r>
            <a:endParaRPr lang="en-US" sz="750" dirty="0"/>
          </a:p>
        </p:txBody>
      </p:sp>
      <p:sp>
        <p:nvSpPr>
          <p:cNvPr id="33" name="Text 28"/>
          <p:cNvSpPr/>
          <p:nvPr/>
        </p:nvSpPr>
        <p:spPr>
          <a:xfrm>
            <a:off x="6236208" y="26974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1A2C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High-value, brand advocates</a:t>
            </a:r>
            <a:endParaRPr lang="en-US" sz="1000" dirty="0"/>
          </a:p>
        </p:txBody>
      </p:sp>
      <p:sp>
        <p:nvSpPr>
          <p:cNvPr id="34" name="Shape 29"/>
          <p:cNvSpPr/>
          <p:nvPr/>
        </p:nvSpPr>
        <p:spPr>
          <a:xfrm>
            <a:off x="6236208" y="3044952"/>
            <a:ext cx="2432304" cy="18288"/>
          </a:xfrm>
          <a:prstGeom prst="rect">
            <a:avLst/>
          </a:prstGeom>
          <a:solidFill>
            <a:srgbClr val="E8ECF2"/>
          </a:solidFill>
          <a:ln w="12700">
            <a:solidFill>
              <a:srgbClr val="E8ECF2"/>
            </a:solidFill>
            <a:prstDash val="solid"/>
          </a:ln>
        </p:spPr>
      </p:sp>
      <p:sp>
        <p:nvSpPr>
          <p:cNvPr id="35" name="Text 30"/>
          <p:cNvSpPr/>
          <p:nvPr/>
        </p:nvSpPr>
        <p:spPr>
          <a:xfrm>
            <a:off x="6236208" y="3127248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200" dirty="0">
                <a:solidFill>
                  <a:srgbClr val="8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PERKS</a:t>
            </a:r>
            <a:endParaRPr lang="en-US" sz="750" dirty="0"/>
          </a:p>
        </p:txBody>
      </p:sp>
      <p:sp>
        <p:nvSpPr>
          <p:cNvPr id="36" name="Text 31"/>
          <p:cNvSpPr/>
          <p:nvPr/>
        </p:nvSpPr>
        <p:spPr>
          <a:xfrm>
            <a:off x="6236208" y="33375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99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950" dirty="0">
                <a:solidFill>
                  <a:srgbClr val="3D4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Exclusive product drops</a:t>
            </a:r>
            <a:endParaRPr lang="en-US" sz="950" dirty="0"/>
          </a:p>
        </p:txBody>
      </p:sp>
      <p:sp>
        <p:nvSpPr>
          <p:cNvPr id="37" name="Text 32"/>
          <p:cNvSpPr/>
          <p:nvPr/>
        </p:nvSpPr>
        <p:spPr>
          <a:xfrm>
            <a:off x="6236208" y="37490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99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950" dirty="0">
                <a:solidFill>
                  <a:srgbClr val="3D4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stylist sessions</a:t>
            </a:r>
            <a:endParaRPr lang="en-US" sz="950" dirty="0"/>
          </a:p>
        </p:txBody>
      </p:sp>
      <p:sp>
        <p:nvSpPr>
          <p:cNvPr id="38" name="Text 33"/>
          <p:cNvSpPr/>
          <p:nvPr/>
        </p:nvSpPr>
        <p:spPr>
          <a:xfrm>
            <a:off x="6236208" y="4160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99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950" dirty="0">
                <a:solidFill>
                  <a:srgbClr val="3D4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VIP event invitations</a:t>
            </a:r>
            <a:endParaRPr lang="en-US" sz="950" dirty="0"/>
          </a:p>
        </p:txBody>
      </p:sp>
      <p:sp>
        <p:nvSpPr>
          <p:cNvPr id="39" name="Shape 34"/>
          <p:cNvSpPr/>
          <p:nvPr/>
        </p:nvSpPr>
        <p:spPr>
          <a:xfrm>
            <a:off x="3090672" y="2670048"/>
            <a:ext cx="219456" cy="109728"/>
          </a:xfrm>
          <a:prstGeom prst="rect">
            <a:avLst/>
          </a:prstGeom>
          <a:solidFill>
            <a:srgbClr val="1A2C4E"/>
          </a:solidFill>
          <a:ln w="12700">
            <a:solidFill>
              <a:srgbClr val="1A2C4E"/>
            </a:solidFill>
            <a:prstDash val="solid"/>
          </a:ln>
        </p:spPr>
      </p:sp>
      <p:sp>
        <p:nvSpPr>
          <p:cNvPr id="40" name="Text 35"/>
          <p:cNvSpPr/>
          <p:nvPr/>
        </p:nvSpPr>
        <p:spPr>
          <a:xfrm>
            <a:off x="3017520" y="26060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A2C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41" name="Shape 36"/>
          <p:cNvSpPr/>
          <p:nvPr/>
        </p:nvSpPr>
        <p:spPr>
          <a:xfrm>
            <a:off x="5925312" y="2670048"/>
            <a:ext cx="219456" cy="109728"/>
          </a:xfrm>
          <a:prstGeom prst="rect">
            <a:avLst/>
          </a:prstGeom>
          <a:solidFill>
            <a:srgbClr val="1A2C4E"/>
          </a:solidFill>
          <a:ln w="12700">
            <a:solidFill>
              <a:srgbClr val="1A2C4E"/>
            </a:solidFill>
            <a:prstDash val="solid"/>
          </a:ln>
        </p:spPr>
      </p:sp>
      <p:sp>
        <p:nvSpPr>
          <p:cNvPr id="42" name="Text 37"/>
          <p:cNvSpPr/>
          <p:nvPr/>
        </p:nvSpPr>
        <p:spPr>
          <a:xfrm>
            <a:off x="5852160" y="26060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A2C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43" name="Shape 38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2"/>
          </a:solidFill>
          <a:ln w="12700">
            <a:solidFill>
              <a:srgbClr val="E8ECF2"/>
            </a:solidFill>
            <a:prstDash val="solid"/>
          </a:ln>
        </p:spPr>
      </p:sp>
      <p:sp>
        <p:nvSpPr>
          <p:cNvPr id="44" name="Text 39"/>
          <p:cNvSpPr/>
          <p:nvPr/>
        </p:nvSpPr>
        <p:spPr>
          <a:xfrm>
            <a:off x="365760" y="4910328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|  Customer Analytics Practice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C4E"/>
          </a:solidFill>
          <a:ln w="12700">
            <a:solidFill>
              <a:srgbClr val="1A2C4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8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 &amp; R5  |  H2: TARGET &amp; PERSONALIZE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0467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2C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Personalize Every Touchpoint; Identify Discount-Insensitive Customers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411480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463040"/>
            <a:ext cx="4114800" cy="64008"/>
          </a:xfrm>
          <a:prstGeom prst="rect">
            <a:avLst/>
          </a:prstGeom>
          <a:solidFill>
            <a:srgbClr val="2D5BE3"/>
          </a:solidFill>
          <a:ln w="12700">
            <a:solidFill>
              <a:srgbClr val="2D5B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1627632"/>
            <a:ext cx="347472" cy="274320"/>
          </a:xfrm>
          <a:prstGeom prst="rect">
            <a:avLst/>
          </a:prstGeom>
          <a:solidFill>
            <a:srgbClr val="2D5BE3"/>
          </a:solidFill>
          <a:ln w="12700">
            <a:solidFill>
              <a:srgbClr val="2D5B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627632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24128" y="1627632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C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Personalized Marketing at Scale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2148840"/>
            <a:ext cx="347472" cy="347472"/>
          </a:xfrm>
          <a:prstGeom prst="ellipse">
            <a:avLst/>
          </a:prstGeom>
          <a:solidFill>
            <a:srgbClr val="EEF2FF"/>
          </a:solidFill>
          <a:ln w="12700">
            <a:solidFill>
              <a:srgbClr val="5B8DEF"/>
            </a:solidFill>
            <a:prstDash val="solid"/>
          </a:ln>
        </p:spPr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185416"/>
            <a:ext cx="228600" cy="22860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024128" y="2148840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3D4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Segment-specific email journeys with dynamic content blocks per customer tier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94360" y="2971800"/>
            <a:ext cx="347472" cy="347472"/>
          </a:xfrm>
          <a:prstGeom prst="ellipse">
            <a:avLst/>
          </a:prstGeom>
          <a:solidFill>
            <a:srgbClr val="EEF2FF"/>
          </a:solidFill>
          <a:ln w="12700">
            <a:solidFill>
              <a:srgbClr val="5B8DEF"/>
            </a:solidFill>
            <a:prstDash val="solid"/>
          </a:ln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008376"/>
            <a:ext cx="228600" cy="2286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024128" y="2971800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3D4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product recommendations based on browsing and purchase history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594360" y="3794760"/>
            <a:ext cx="347472" cy="347472"/>
          </a:xfrm>
          <a:prstGeom prst="ellipse">
            <a:avLst/>
          </a:prstGeom>
          <a:solidFill>
            <a:srgbClr val="EEF2FF"/>
          </a:solidFill>
          <a:ln w="12700">
            <a:solidFill>
              <a:srgbClr val="5B8DEF"/>
            </a:solidFill>
            <a:prstDash val="solid"/>
          </a:ln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83133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024128" y="3794760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3D4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Behavior-triggered push notifications: cart abandonment, wishlist drops, restock alerts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457200" y="4343400"/>
            <a:ext cx="4114800" cy="365760"/>
          </a:xfrm>
          <a:prstGeom prst="rect">
            <a:avLst/>
          </a:prstGeom>
          <a:solidFill>
            <a:srgbClr val="EEF2FF"/>
          </a:solidFill>
          <a:ln w="12700">
            <a:solidFill>
              <a:srgbClr val="E8ECF2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566928" y="439826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i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Expected: 2–4× improvement in email CTR vs. batch campaigns</a:t>
            </a:r>
            <a:endParaRPr lang="en-US" sz="900" dirty="0"/>
          </a:p>
        </p:txBody>
      </p:sp>
      <p:sp>
        <p:nvSpPr>
          <p:cNvPr id="21" name="Shape 16"/>
          <p:cNvSpPr/>
          <p:nvPr/>
        </p:nvSpPr>
        <p:spPr>
          <a:xfrm>
            <a:off x="4846320" y="1463040"/>
            <a:ext cx="384048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4846320" y="1463040"/>
            <a:ext cx="3840480" cy="64008"/>
          </a:xfrm>
          <a:prstGeom prst="rect">
            <a:avLst/>
          </a:prstGeom>
          <a:solidFill>
            <a:srgbClr val="C9973D"/>
          </a:solidFill>
          <a:ln w="12700">
            <a:solidFill>
              <a:srgbClr val="C9973D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4983480" y="1627632"/>
            <a:ext cx="347472" cy="274320"/>
          </a:xfrm>
          <a:prstGeom prst="rect">
            <a:avLst/>
          </a:prstGeom>
          <a:solidFill>
            <a:srgbClr val="C9973D"/>
          </a:solidFill>
          <a:ln w="12700">
            <a:solidFill>
              <a:srgbClr val="C9973D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4983480" y="1627632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</a:t>
            </a:r>
            <a:endParaRPr lang="en-US" sz="900" dirty="0"/>
          </a:p>
        </p:txBody>
      </p:sp>
      <p:sp>
        <p:nvSpPr>
          <p:cNvPr id="25" name="Text 20"/>
          <p:cNvSpPr/>
          <p:nvPr/>
        </p:nvSpPr>
        <p:spPr>
          <a:xfrm>
            <a:off x="5413248" y="1627632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C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Discount-Insensitive Customers</a:t>
            </a:r>
            <a:endParaRPr lang="en-US" sz="1200" dirty="0"/>
          </a:p>
        </p:txBody>
      </p:sp>
      <p:sp>
        <p:nvSpPr>
          <p:cNvPr id="26" name="Shape 21"/>
          <p:cNvSpPr/>
          <p:nvPr/>
        </p:nvSpPr>
        <p:spPr>
          <a:xfrm>
            <a:off x="4983480" y="2148840"/>
            <a:ext cx="347472" cy="347472"/>
          </a:xfrm>
          <a:prstGeom prst="ellipse">
            <a:avLst/>
          </a:prstGeom>
          <a:solidFill>
            <a:srgbClr val="C9973D"/>
          </a:solidFill>
          <a:ln w="12700">
            <a:solidFill>
              <a:srgbClr val="C9973D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4983480" y="21488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000" dirty="0"/>
          </a:p>
        </p:txBody>
      </p:sp>
      <p:sp>
        <p:nvSpPr>
          <p:cNvPr id="28" name="Text 23"/>
          <p:cNvSpPr/>
          <p:nvPr/>
        </p:nvSpPr>
        <p:spPr>
          <a:xfrm>
            <a:off x="5413248" y="214884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3D4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purchase probability with and without discount — isolate customers who buy regardless</a:t>
            </a:r>
            <a:endParaRPr lang="en-US" sz="1000" dirty="0"/>
          </a:p>
        </p:txBody>
      </p:sp>
      <p:sp>
        <p:nvSpPr>
          <p:cNvPr id="29" name="Shape 24"/>
          <p:cNvSpPr/>
          <p:nvPr/>
        </p:nvSpPr>
        <p:spPr>
          <a:xfrm>
            <a:off x="4983480" y="2953512"/>
            <a:ext cx="347472" cy="347472"/>
          </a:xfrm>
          <a:prstGeom prst="ellipse">
            <a:avLst/>
          </a:prstGeom>
          <a:solidFill>
            <a:srgbClr val="C9973D"/>
          </a:solidFill>
          <a:ln w="12700">
            <a:solidFill>
              <a:srgbClr val="C9973D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983480" y="29535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5413248" y="2953512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3D4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or remove promotional spend on this cohort; redirect budget to acquisition</a:t>
            </a:r>
            <a:endParaRPr lang="en-US" sz="1000" dirty="0"/>
          </a:p>
        </p:txBody>
      </p:sp>
      <p:sp>
        <p:nvSpPr>
          <p:cNvPr id="32" name="Shape 27"/>
          <p:cNvSpPr/>
          <p:nvPr/>
        </p:nvSpPr>
        <p:spPr>
          <a:xfrm>
            <a:off x="4983480" y="3758184"/>
            <a:ext cx="347472" cy="347472"/>
          </a:xfrm>
          <a:prstGeom prst="ellipse">
            <a:avLst/>
          </a:prstGeom>
          <a:solidFill>
            <a:srgbClr val="C9973D"/>
          </a:solidFill>
          <a:ln w="12700">
            <a:solidFill>
              <a:srgbClr val="C9973D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4983480" y="37581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5413248" y="3758184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3D4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90-day retention and revenue impact; course-correct if churn increases</a:t>
            </a:r>
            <a:endParaRPr lang="en-US" sz="1000" dirty="0"/>
          </a:p>
        </p:txBody>
      </p:sp>
      <p:sp>
        <p:nvSpPr>
          <p:cNvPr id="35" name="Shape 30"/>
          <p:cNvSpPr/>
          <p:nvPr/>
        </p:nvSpPr>
        <p:spPr>
          <a:xfrm>
            <a:off x="4846320" y="4343400"/>
            <a:ext cx="3840480" cy="365760"/>
          </a:xfrm>
          <a:prstGeom prst="rect">
            <a:avLst/>
          </a:prstGeom>
          <a:solidFill>
            <a:srgbClr val="FEF9EC"/>
          </a:solidFill>
          <a:ln w="12700">
            <a:solidFill>
              <a:srgbClr val="E8ECF2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4956048" y="439826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i="1" dirty="0">
                <a:solidFill>
                  <a:srgbClr val="C99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Expected: 8–12% reduction in unnecessary promo cost</a:t>
            </a:r>
            <a:endParaRPr lang="en-US" sz="900" dirty="0"/>
          </a:p>
        </p:txBody>
      </p:sp>
      <p:sp>
        <p:nvSpPr>
          <p:cNvPr id="37" name="Shape 32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2"/>
          </a:solidFill>
          <a:ln w="12700">
            <a:solidFill>
              <a:srgbClr val="E8ECF2"/>
            </a:solidFill>
            <a:prstDash val="solid"/>
          </a:ln>
        </p:spPr>
      </p:sp>
      <p:sp>
        <p:nvSpPr>
          <p:cNvPr id="38" name="Text 33"/>
          <p:cNvSpPr/>
          <p:nvPr/>
        </p:nvSpPr>
        <p:spPr>
          <a:xfrm>
            <a:off x="365760" y="4910328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|  Customer Analytics Practice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C4E"/>
          </a:solidFill>
          <a:ln w="12700">
            <a:solidFill>
              <a:srgbClr val="1A2C4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8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R6, R7 &amp; R8  |  H3: SCALE &amp; OPTIMIZE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0467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A2C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Replace Discounts with Value; Build the Experimentation &amp; Intelligence Engine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2651760" cy="324612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463040"/>
            <a:ext cx="2651760" cy="64008"/>
          </a:xfrm>
          <a:prstGeom prst="rect">
            <a:avLst/>
          </a:prstGeom>
          <a:solidFill>
            <a:srgbClr val="2D5BE3"/>
          </a:solidFill>
          <a:ln w="12700">
            <a:solidFill>
              <a:srgbClr val="2D5B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27632"/>
            <a:ext cx="320040" cy="256032"/>
          </a:xfrm>
          <a:prstGeom prst="rect">
            <a:avLst/>
          </a:prstGeom>
          <a:solidFill>
            <a:srgbClr val="2D5BE3"/>
          </a:solidFill>
          <a:ln w="12700">
            <a:solidFill>
              <a:srgbClr val="2D5B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162763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960120" y="1627632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A2C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Discounts with Value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" y="2121408"/>
            <a:ext cx="24505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900" dirty="0">
                <a:solidFill>
                  <a:srgbClr val="3D4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bundles at marginal cost uplift — perceived value &gt; discount depth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66928" y="2779776"/>
            <a:ext cx="24505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900" dirty="0">
                <a:solidFill>
                  <a:srgbClr val="3D4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Loyalty points redeemable for store credit, not cash-equivalent discounts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66928" y="3438144"/>
            <a:ext cx="24505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900" dirty="0">
                <a:solidFill>
                  <a:srgbClr val="3D4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experiences: styling sessions, events, members-only drops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4315968"/>
            <a:ext cx="2651760" cy="393192"/>
          </a:xfrm>
          <a:prstGeom prst="rect">
            <a:avLst/>
          </a:prstGeom>
          <a:solidFill>
            <a:srgbClr val="EEF2FF"/>
          </a:solidFill>
          <a:ln w="12700">
            <a:solidFill>
              <a:srgbClr val="E8ECF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4379976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i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Net margin lift of 3–5pp on redeemed value vs. equivalent discount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291840" y="1463040"/>
            <a:ext cx="2651760" cy="324612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291840" y="1463040"/>
            <a:ext cx="2651760" cy="64008"/>
          </a:xfrm>
          <a:prstGeom prst="rect">
            <a:avLst/>
          </a:prstGeom>
          <a:solidFill>
            <a:srgbClr val="C9973D"/>
          </a:solidFill>
          <a:ln w="12700">
            <a:solidFill>
              <a:srgbClr val="C9973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401568" y="1627632"/>
            <a:ext cx="320040" cy="256032"/>
          </a:xfrm>
          <a:prstGeom prst="rect">
            <a:avLst/>
          </a:prstGeom>
          <a:solidFill>
            <a:srgbClr val="C9973D"/>
          </a:solidFill>
          <a:ln w="12700">
            <a:solidFill>
              <a:srgbClr val="C997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01568" y="162763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794760" y="1627632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A2C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A/B Testing Engine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401568" y="2121408"/>
            <a:ext cx="24505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99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900" dirty="0">
                <a:solidFill>
                  <a:srgbClr val="3D4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Systematically test discount vs. no-discount for matched customer pairs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401568" y="2779776"/>
            <a:ext cx="24505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99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900" dirty="0">
                <a:solidFill>
                  <a:srgbClr val="3D4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conversion rate, basket size, and 30/60/90-day repeat purchase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401568" y="3438144"/>
            <a:ext cx="24505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99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900" dirty="0">
                <a:solidFill>
                  <a:srgbClr val="3D4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Iterate and roll out winning variants across customer segments quarterly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291840" y="4315968"/>
            <a:ext cx="2651760" cy="393192"/>
          </a:xfrm>
          <a:prstGeom prst="rect">
            <a:avLst/>
          </a:prstGeom>
          <a:solidFill>
            <a:srgbClr val="FEF9EC"/>
          </a:solidFill>
          <a:ln w="12700">
            <a:solidFill>
              <a:srgbClr val="E8ECF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01568" y="4379976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i="1" dirty="0">
                <a:solidFill>
                  <a:srgbClr val="C99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Builds proprietary data moat on price elasticity by segment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126480" y="1463040"/>
            <a:ext cx="2651760" cy="324612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126480" y="1463040"/>
            <a:ext cx="2651760" cy="64008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236208" y="1627632"/>
            <a:ext cx="320040" cy="256032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236208" y="162763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629400" y="1627632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A2C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Real-Time Analytics Dashboards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36208" y="2121408"/>
            <a:ext cx="24505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900" dirty="0">
                <a:solidFill>
                  <a:srgbClr val="3D4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LTV, retention rates, and discount utilization by segment in real time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236208" y="2779776"/>
            <a:ext cx="24505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900" dirty="0">
                <a:solidFill>
                  <a:srgbClr val="3D4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cohorts at risk of churn before promotional windows close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236208" y="3438144"/>
            <a:ext cx="24505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900" dirty="0">
                <a:solidFill>
                  <a:srgbClr val="3D4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weekly data-driven decisions for commercial and CRM teams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126480" y="4315968"/>
            <a:ext cx="2651760" cy="393192"/>
          </a:xfrm>
          <a:prstGeom prst="rect">
            <a:avLst/>
          </a:prstGeom>
          <a:solidFill>
            <a:srgbClr val="EEFAF3"/>
          </a:solidFill>
          <a:ln w="12700">
            <a:solidFill>
              <a:srgbClr val="E8ECF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236208" y="4379976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i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Reduces decision lag from weeks to hours; democratizes insight access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2"/>
          </a:solidFill>
          <a:ln w="12700">
            <a:solidFill>
              <a:srgbClr val="E8ECF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5760" y="4910328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|  Customer Analytics Practice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2C4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52340"/>
          </a:solidFill>
          <a:ln w="12700">
            <a:solidFill>
              <a:srgbClr val="15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8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IMPACT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04672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More Profitable, Loyalty-Driven Business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38988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Executing these eight recommendations positions the business for durable, margin-accretive growth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965960"/>
            <a:ext cx="2011680" cy="2606040"/>
          </a:xfrm>
          <a:prstGeom prst="rect">
            <a:avLst/>
          </a:prstGeom>
          <a:solidFill>
            <a:srgbClr val="1F3A66"/>
          </a:solidFill>
          <a:ln w="6350">
            <a:solidFill>
              <a:srgbClr val="2D4A7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965960"/>
            <a:ext cx="2011680" cy="64008"/>
          </a:xfrm>
          <a:prstGeom prst="rect">
            <a:avLst/>
          </a:prstGeom>
          <a:solidFill>
            <a:srgbClr val="2D5BE3"/>
          </a:solidFill>
          <a:ln w="12700">
            <a:solidFill>
              <a:srgbClr val="2D5B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214884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2D5B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+5–9pp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566928" y="28803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Improvement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" y="329184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removing blanket VIP discounts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606040" y="1965960"/>
            <a:ext cx="2011680" cy="2606040"/>
          </a:xfrm>
          <a:prstGeom prst="rect">
            <a:avLst/>
          </a:prstGeom>
          <a:solidFill>
            <a:srgbClr val="1F3A66"/>
          </a:solidFill>
          <a:ln w="6350">
            <a:solidFill>
              <a:srgbClr val="2D4A7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06040" y="1965960"/>
            <a:ext cx="2011680" cy="64008"/>
          </a:xfrm>
          <a:prstGeom prst="rect">
            <a:avLst/>
          </a:prstGeom>
          <a:solidFill>
            <a:srgbClr val="C9973D"/>
          </a:solidFill>
          <a:ln w="12700">
            <a:solidFill>
              <a:srgbClr val="C997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15768" y="214884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C997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2–4×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2715768" y="28803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ROI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715768" y="329184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 precision targeting and personalization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754880" y="1965960"/>
            <a:ext cx="2011680" cy="2606040"/>
          </a:xfrm>
          <a:prstGeom prst="rect">
            <a:avLst/>
          </a:prstGeom>
          <a:solidFill>
            <a:srgbClr val="1F3A66"/>
          </a:solidFill>
          <a:ln w="6350">
            <a:solidFill>
              <a:srgbClr val="2D4A7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54880" y="1965960"/>
            <a:ext cx="2011680" cy="64008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64608" y="214884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2ECC7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+30%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4864608" y="28803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Retention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64608" y="329184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experience-led loyalty vs. discount dependency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903720" y="1965960"/>
            <a:ext cx="2011680" cy="2606040"/>
          </a:xfrm>
          <a:prstGeom prst="rect">
            <a:avLst/>
          </a:prstGeom>
          <a:solidFill>
            <a:srgbClr val="1F3A66"/>
          </a:solidFill>
          <a:ln w="6350">
            <a:solidFill>
              <a:srgbClr val="2D4A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03720" y="1965960"/>
            <a:ext cx="2011680" cy="64008"/>
          </a:xfrm>
          <a:prstGeom prst="rect">
            <a:avLst/>
          </a:prstGeom>
          <a:solidFill>
            <a:srgbClr val="E84393"/>
          </a:solidFill>
          <a:ln w="12700">
            <a:solidFill>
              <a:srgbClr val="E8439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13448" y="214884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E843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18mo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7013448" y="28803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 Period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013448" y="329184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full program investment at conservative assumptions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solidFill>
            <a:srgbClr val="2D5BE3"/>
          </a:solidFill>
          <a:ln w="12700">
            <a:solidFill>
              <a:srgbClr val="2D5BE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" y="459028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Next Step: Commission Pilot Program on VIP Cohort Within 30 Days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152340"/>
          </a:solidFill>
          <a:ln w="12700">
            <a:solidFill>
              <a:srgbClr val="15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910328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|  Customer Analytics Practice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882</Words>
  <Application>Microsoft Office PowerPoint</Application>
  <PresentationFormat>On-screen Show (16:9)</PresentationFormat>
  <Paragraphs>160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Victor Muthii</cp:lastModifiedBy>
  <cp:revision>2</cp:revision>
  <dcterms:created xsi:type="dcterms:W3CDTF">2026-03-17T18:49:18Z</dcterms:created>
  <dcterms:modified xsi:type="dcterms:W3CDTF">2026-03-17T19:01:21Z</dcterms:modified>
</cp:coreProperties>
</file>